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81" r:id="rId5"/>
    <p:sldId id="269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71" r:id="rId15"/>
    <p:sldId id="272" r:id="rId16"/>
    <p:sldId id="273" r:id="rId17"/>
    <p:sldId id="274" r:id="rId18"/>
    <p:sldId id="29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961120" y="914400"/>
            <a:ext cx="2468880" cy="2468880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10058400" y="2377440"/>
            <a:ext cx="1280160" cy="1280160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6555851" y="4069080"/>
            <a:ext cx="2743200" cy="2743200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rPr dirty="0"/>
              <a:t>GET-HORARIUM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52297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2B1B9"/>
                </a:solidFill>
              </a:defRPr>
            </a:pPr>
            <a:r>
              <a:rPr dirty="0"/>
              <a:t>Sistema de </a:t>
            </a:r>
            <a:r>
              <a:rPr lang="es-CO" dirty="0"/>
              <a:t>creación</a:t>
            </a:r>
            <a:r>
              <a:rPr dirty="0"/>
              <a:t> de horarios académicos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1180"/>
            <a:ext cx="3265638" cy="151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4ECF0"/>
                </a:solidFill>
              </a:defRPr>
            </a:pPr>
            <a:r>
              <a:rPr sz="2000" dirty="0"/>
              <a:t>Carolina Gómez Pinzón</a:t>
            </a:r>
          </a:p>
          <a:p>
            <a:pPr>
              <a:spcAft>
                <a:spcPts val="500"/>
              </a:spcAft>
              <a:defRPr sz="1400">
                <a:solidFill>
                  <a:srgbClr val="E4ECF0"/>
                </a:solidFill>
              </a:defRPr>
            </a:pPr>
            <a:r>
              <a:rPr sz="2000" dirty="0"/>
              <a:t>Walther Molina Chala</a:t>
            </a:r>
          </a:p>
          <a:p>
            <a:pPr>
              <a:spcAft>
                <a:spcPts val="500"/>
              </a:spcAft>
              <a:defRPr sz="1400">
                <a:solidFill>
                  <a:srgbClr val="E4ECF0"/>
                </a:solidFill>
              </a:defRPr>
            </a:pPr>
            <a:r>
              <a:rPr sz="2000" dirty="0"/>
              <a:t>Juan Andrés Carrero</a:t>
            </a:r>
          </a:p>
          <a:p>
            <a:pPr>
              <a:defRPr sz="1200">
                <a:solidFill>
                  <a:srgbClr val="96A6B0"/>
                </a:solidFill>
              </a:defRPr>
            </a:pPr>
            <a:r>
              <a:rPr sz="2000" dirty="0"/>
              <a:t>SENA ADSO  •  Ficha 3485297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20120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2B1B9"/>
                </a:solidFill>
              </a:defRPr>
            </a:pPr>
            <a:r>
              <a:rPr sz="1100" dirty="0"/>
              <a:t>PRESENTACIÓN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233" y="179207"/>
            <a:ext cx="52657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Plantilla extendida de casos de uso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1" y="708463"/>
            <a:ext cx="3926693" cy="5801766"/>
          </a:xfrm>
          <a:prstGeom prst="rect">
            <a:avLst/>
          </a:prstGeom>
        </p:spPr>
      </p:pic>
      <p:sp>
        <p:nvSpPr>
          <p:cNvPr id="34" name="Rounded Rectangle 7"/>
          <p:cNvSpPr/>
          <p:nvPr/>
        </p:nvSpPr>
        <p:spPr>
          <a:xfrm>
            <a:off x="6821446" y="999853"/>
            <a:ext cx="4069080" cy="1239351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5" name="Rectangle 8"/>
          <p:cNvSpPr/>
          <p:nvPr/>
        </p:nvSpPr>
        <p:spPr>
          <a:xfrm>
            <a:off x="6789442" y="1095013"/>
            <a:ext cx="64008" cy="1097280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6" name="TextBox 9"/>
          <p:cNvSpPr txBox="1"/>
          <p:nvPr/>
        </p:nvSpPr>
        <p:spPr>
          <a:xfrm>
            <a:off x="7021319" y="1005238"/>
            <a:ext cx="22865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Gestión de usuarios</a:t>
            </a:r>
          </a:p>
        </p:txBody>
      </p:sp>
      <p:sp>
        <p:nvSpPr>
          <p:cNvPr id="37" name="TextBox 10"/>
          <p:cNvSpPr txBox="1"/>
          <p:nvPr/>
        </p:nvSpPr>
        <p:spPr>
          <a:xfrm>
            <a:off x="7021319" y="1499014"/>
            <a:ext cx="3703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Administración de cuentas y perfiles.</a:t>
            </a:r>
          </a:p>
        </p:txBody>
      </p:sp>
      <p:sp>
        <p:nvSpPr>
          <p:cNvPr id="38" name="Rounded Rectangle 11"/>
          <p:cNvSpPr/>
          <p:nvPr/>
        </p:nvSpPr>
        <p:spPr>
          <a:xfrm>
            <a:off x="6817566" y="2678117"/>
            <a:ext cx="4069080" cy="1246704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9" name="Rectangle 12"/>
          <p:cNvSpPr/>
          <p:nvPr/>
        </p:nvSpPr>
        <p:spPr>
          <a:xfrm>
            <a:off x="6785562" y="2692607"/>
            <a:ext cx="64008" cy="109728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40" name="TextBox 13"/>
          <p:cNvSpPr txBox="1"/>
          <p:nvPr/>
        </p:nvSpPr>
        <p:spPr>
          <a:xfrm>
            <a:off x="6853450" y="2657144"/>
            <a:ext cx="21922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Gestión académica</a:t>
            </a:r>
          </a:p>
        </p:txBody>
      </p:sp>
      <p:sp>
        <p:nvSpPr>
          <p:cNvPr id="41" name="TextBox 14"/>
          <p:cNvSpPr txBox="1"/>
          <p:nvPr/>
        </p:nvSpPr>
        <p:spPr>
          <a:xfrm>
            <a:off x="6881574" y="3007736"/>
            <a:ext cx="3703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Instituciones, programas y asignaturas.</a:t>
            </a:r>
          </a:p>
        </p:txBody>
      </p:sp>
      <p:sp>
        <p:nvSpPr>
          <p:cNvPr id="42" name="Rounded Rectangle 15"/>
          <p:cNvSpPr/>
          <p:nvPr/>
        </p:nvSpPr>
        <p:spPr>
          <a:xfrm>
            <a:off x="6885454" y="4287461"/>
            <a:ext cx="4069080" cy="129833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43" name="Rectangle 16"/>
          <p:cNvSpPr/>
          <p:nvPr/>
        </p:nvSpPr>
        <p:spPr>
          <a:xfrm>
            <a:off x="6849570" y="4370143"/>
            <a:ext cx="64008" cy="1097280"/>
          </a:xfrm>
          <a:prstGeom prst="rect">
            <a:avLst/>
          </a:prstGeom>
          <a:solidFill>
            <a:srgbClr val="30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44" name="TextBox 17"/>
          <p:cNvSpPr txBox="1"/>
          <p:nvPr/>
        </p:nvSpPr>
        <p:spPr>
          <a:xfrm>
            <a:off x="6949462" y="4264368"/>
            <a:ext cx="22232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Horarios y recursos</a:t>
            </a:r>
          </a:p>
        </p:txBody>
      </p:sp>
      <p:sp>
        <p:nvSpPr>
          <p:cNvPr id="45" name="TextBox 18"/>
          <p:cNvSpPr txBox="1"/>
          <p:nvPr/>
        </p:nvSpPr>
        <p:spPr>
          <a:xfrm>
            <a:off x="6949462" y="4650082"/>
            <a:ext cx="3703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Aulas, docentes, franjas, generación y publicación.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675" y="394531"/>
            <a:ext cx="3530600" cy="5911442"/>
          </a:xfrm>
          <a:prstGeom prst="rect">
            <a:avLst/>
          </a:prstGeom>
          <a:noFill/>
        </p:spPr>
      </p:pic>
      <p:pic>
        <p:nvPicPr>
          <p:cNvPr id="22" name="Imagen 2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240" y="394531"/>
            <a:ext cx="3877732" cy="59961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721" y="546915"/>
            <a:ext cx="4100274" cy="5764169"/>
          </a:xfrm>
          <a:prstGeom prst="rect">
            <a:avLst/>
          </a:prstGeom>
          <a:noFill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09A048F-7E0F-2CFA-6BEE-56074132C9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07" y="546915"/>
            <a:ext cx="4100274" cy="57641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421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4547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Figma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6B0"/>
                </a:solidFill>
              </a:defRPr>
            </a:pPr>
            <a:r>
              <a:rPr dirty="0"/>
              <a:t>Prototipo y propuesta de interfaz 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31790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6B0"/>
                </a:solidFill>
              </a:defRPr>
            </a:pPr>
            <a:r>
              <a:rPr dirty="0"/>
              <a:t>GET-HORARIUM  •  SENA ADSO  •  Ficha 3485297                                      1</a:t>
            </a:r>
            <a:r>
              <a:rPr lang="es-ES" dirty="0"/>
              <a:t>5</a:t>
            </a:r>
            <a:endParaRPr dirty="0"/>
          </a:p>
        </p:txBody>
      </p:sp>
      <p:pic>
        <p:nvPicPr>
          <p:cNvPr id="11" name="Imagen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2" y="1642744"/>
            <a:ext cx="5677747" cy="3471123"/>
          </a:xfrm>
          <a:prstGeom prst="rect">
            <a:avLst/>
          </a:prstGeom>
          <a:noFill/>
        </p:spPr>
      </p:pic>
      <p:pic>
        <p:nvPicPr>
          <p:cNvPr id="12" name="Imagen 1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42744"/>
            <a:ext cx="5579534" cy="34711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44" y="1771121"/>
            <a:ext cx="5890155" cy="3231092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146" y="1771121"/>
            <a:ext cx="5743787" cy="32310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400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9" y="1832081"/>
            <a:ext cx="5905923" cy="3518852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937" y="1832081"/>
            <a:ext cx="5850996" cy="35188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971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8" y="1662324"/>
            <a:ext cx="5890790" cy="3451543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62323"/>
            <a:ext cx="6011333" cy="34515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257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" y="1807316"/>
            <a:ext cx="5927725" cy="3442017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82" y="1807315"/>
            <a:ext cx="5802418" cy="34420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66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52" y="1674390"/>
            <a:ext cx="6220248" cy="3354810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74390"/>
            <a:ext cx="5537200" cy="33548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719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6" y="1806785"/>
            <a:ext cx="6166273" cy="3535681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833" y="1806785"/>
            <a:ext cx="5702299" cy="35356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816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4" y="1539770"/>
            <a:ext cx="6179185" cy="3548697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974" y="1539770"/>
            <a:ext cx="5540693" cy="35486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449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" y="1765618"/>
            <a:ext cx="6253586" cy="3238182"/>
          </a:xfrm>
          <a:prstGeom prst="rect">
            <a:avLst/>
          </a:prstGeom>
          <a:noFill/>
        </p:spPr>
      </p:pic>
      <p:pic>
        <p:nvPicPr>
          <p:cNvPr id="3" name="Imagen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841" y="1765618"/>
            <a:ext cx="5559425" cy="32381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103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543802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Ficha técnica — Software y </a:t>
            </a:r>
            <a:r>
              <a:rPr dirty="0" smtClean="0"/>
              <a:t>servic</a:t>
            </a:r>
            <a:r>
              <a:rPr lang="es-ES" dirty="0" smtClean="0"/>
              <a:t>ios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53279" y="1104404"/>
            <a:ext cx="6313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6B0"/>
                </a:solidFill>
              </a:defRPr>
            </a:pPr>
            <a:r>
              <a:rPr dirty="0"/>
              <a:t>Herramientas y servicios considerados para la </a:t>
            </a:r>
            <a:r>
              <a:rPr dirty="0" smtClean="0"/>
              <a:t>solución</a:t>
            </a:r>
            <a:r>
              <a:rPr lang="es-ES" dirty="0" smtClean="0"/>
              <a:t> con sus respectivos precios anuales y unicos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603504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93284" y="2475048"/>
            <a:ext cx="17431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Sistema operativo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" y="2204644"/>
            <a:ext cx="66108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2 × Windows 11 Pro   |   $600.000 • pago único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64008" cy="6035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94134" y="3158596"/>
            <a:ext cx="14829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98648"/>
            <a:ext cx="5105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MySQL / PostgreSQL   |   $1.779</a:t>
            </a:r>
            <a:r>
              <a:rPr lang="es-CO" sz="2000" dirty="0"/>
              <a:t>.000</a:t>
            </a:r>
            <a:r>
              <a:rPr sz="2000" dirty="0"/>
              <a:t> 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4008" cy="603504"/>
          </a:xfrm>
          <a:prstGeom prst="rect">
            <a:avLst/>
          </a:prstGeom>
          <a:solidFill>
            <a:srgbClr val="30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15674" y="3949328"/>
            <a:ext cx="326553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Entorno de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646644"/>
            <a:ext cx="10469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Visual Studio Code   |   $0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64008" cy="603504"/>
          </a:xfrm>
          <a:prstGeom prst="rect">
            <a:avLst/>
          </a:prstGeom>
          <a:solidFill>
            <a:srgbClr val="2EC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21585" y="4663307"/>
            <a:ext cx="189478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500" b="1">
                <a:solidFill>
                  <a:srgbClr val="F8FAFC"/>
                </a:solidFill>
              </a:defRPr>
            </a:pPr>
            <a:r>
              <a:rPr dirty="0"/>
              <a:t>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61688"/>
            <a:ext cx="6451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Servidor web + almacenamiento + SSL   |   $1.440.000 anual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34840"/>
            <a:ext cx="64008" cy="603504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64646" y="5348210"/>
            <a:ext cx="9606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Dominio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093207"/>
            <a:ext cx="62332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lang="es-ES" sz="2000" dirty="0" smtClean="0"/>
              <a:t>Dominio.com</a:t>
            </a:r>
            <a:r>
              <a:rPr sz="2000" dirty="0" smtClean="0"/>
              <a:t>   </a:t>
            </a:r>
            <a:r>
              <a:rPr sz="2000" dirty="0"/>
              <a:t>|   $4.233.600 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166360"/>
            <a:ext cx="64008" cy="6035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94134" y="6089157"/>
            <a:ext cx="18434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Respaldo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824728"/>
            <a:ext cx="10469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Copias de seguridad en la nube   |   $600.000 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0294" y="5989320"/>
            <a:ext cx="38397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2B1B9"/>
                </a:solidFill>
              </a:defRPr>
            </a:pPr>
            <a:r>
              <a:rPr sz="1600" dirty="0"/>
              <a:t>TOTAL SOFTWARE Y SERVICIOS: $2.125.000</a:t>
            </a:r>
          </a:p>
        </p:txBody>
      </p:sp>
      <p:cxnSp>
        <p:nvCxnSpPr>
          <p:cNvPr id="26" name="Conector recto 25"/>
          <p:cNvCxnSpPr/>
          <p:nvPr/>
        </p:nvCxnSpPr>
        <p:spPr>
          <a:xfrm>
            <a:off x="394553" y="1503893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>
            <a:off x="394553" y="2132723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394553" y="2898648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/>
          <p:cNvCxnSpPr/>
          <p:nvPr/>
        </p:nvCxnSpPr>
        <p:spPr>
          <a:xfrm>
            <a:off x="394553" y="3634393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/>
          <p:nvPr/>
        </p:nvCxnSpPr>
        <p:spPr>
          <a:xfrm>
            <a:off x="394553" y="4361688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>
            <a:off x="394553" y="5090382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>
            <a:off x="394553" y="5831330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>
            <a:off x="394552" y="6541866"/>
            <a:ext cx="7080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/>
        </p:nvCxnSpPr>
        <p:spPr>
          <a:xfrm flipV="1">
            <a:off x="7475456" y="1508762"/>
            <a:ext cx="0" cy="50331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/>
          <p:cNvCxnSpPr/>
          <p:nvPr/>
        </p:nvCxnSpPr>
        <p:spPr>
          <a:xfrm flipH="1">
            <a:off x="394552" y="1503893"/>
            <a:ext cx="1" cy="503797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6"/>
          <p:cNvSpPr/>
          <p:nvPr/>
        </p:nvSpPr>
        <p:spPr>
          <a:xfrm>
            <a:off x="677337" y="5884688"/>
            <a:ext cx="64008" cy="603504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CuadroTexto 43"/>
          <p:cNvSpPr txBox="1"/>
          <p:nvPr/>
        </p:nvSpPr>
        <p:spPr>
          <a:xfrm>
            <a:off x="791432" y="1544357"/>
            <a:ext cx="4753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</a:rPr>
              <a:t>Presupuesto de Software y Servicios Web</a:t>
            </a:r>
            <a:r>
              <a:rPr lang="es-ES" sz="2800" dirty="0">
                <a:solidFill>
                  <a:schemeClr val="bg1"/>
                </a:solidFill>
              </a:rPr>
              <a:t>.</a:t>
            </a:r>
            <a:r>
              <a:rPr lang="es-ES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7" name="Imagen 46" descr="Software Transparent Image Transparent HQ PNG Download | FreePNGim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33" y="513131"/>
            <a:ext cx="8722655" cy="54737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750994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Ficha técnica — Arquitectura, costos y proveedores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9212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6B0"/>
                </a:solidFill>
              </a:defRPr>
            </a:pPr>
            <a:r>
              <a:rPr dirty="0"/>
              <a:t>Criterios utilizados para evaluar la infraestructura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166360" cy="114300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64008" cy="1143000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56248" y="158191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Costo de infraestructura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20173"/>
            <a:ext cx="480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1600" dirty="0"/>
              <a:t>Hardware: $12.750.000  </a:t>
            </a:r>
            <a:r>
              <a:rPr sz="1600" dirty="0" smtClean="0"/>
              <a:t> </a:t>
            </a:r>
            <a:endParaRPr lang="es-ES" sz="1600" dirty="0" smtClean="0"/>
          </a:p>
          <a:p>
            <a:pPr>
              <a:defRPr sz="1150">
                <a:solidFill>
                  <a:srgbClr val="E4ECF0"/>
                </a:solidFill>
              </a:defRPr>
            </a:pPr>
            <a:r>
              <a:rPr sz="1600" dirty="0" smtClean="0"/>
              <a:t>Software </a:t>
            </a:r>
            <a:r>
              <a:rPr sz="1600" dirty="0"/>
              <a:t>y servicios: $2.125.000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5166360" cy="114300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64008" cy="1143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56248" y="29077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Subtotal infraestructura tecnológica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401568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1600" dirty="0"/>
              <a:t>$14.875.000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069080"/>
            <a:ext cx="5166360" cy="150876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355080" y="4069080"/>
            <a:ext cx="64008" cy="1508760"/>
          </a:xfrm>
          <a:prstGeom prst="rect">
            <a:avLst/>
          </a:prstGeom>
          <a:solidFill>
            <a:srgbClr val="30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556248" y="42336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Criterios de comparación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727448"/>
            <a:ext cx="480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1600" dirty="0"/>
              <a:t>Precio • cantidad • especificaciones técnicas • calidad • garantía • soporte técnico • relación costo-beneficio.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3179075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A6B0"/>
                </a:solidFill>
              </a:defRPr>
            </a:pPr>
            <a:r>
              <a:rPr dirty="0"/>
              <a:t>GET-HORARIUM  •  SENA ADSO  •  Ficha 3485297                                      1</a:t>
            </a:r>
            <a:r>
              <a:rPr lang="es-ES" dirty="0"/>
              <a:t>8</a:t>
            </a:r>
            <a:endParaRPr dirty="0"/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8" y="1260918"/>
            <a:ext cx="6060770" cy="2283336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8" y="3544254"/>
            <a:ext cx="6060770" cy="25094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3296" y="542788"/>
            <a:ext cx="64954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Ficha técnica — Roles y tiempos estimados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96" y="1015194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6B0"/>
                </a:solidFill>
              </a:defRPr>
            </a:pPr>
            <a:r>
              <a:rPr dirty="0"/>
              <a:t>Recurso humano contemplado en 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296" y="1420087"/>
            <a:ext cx="64008" cy="658368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14464" y="1584678"/>
            <a:ext cx="23421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Analista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2573" y="1673716"/>
            <a:ext cx="63093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dirty="0"/>
              <a:t>80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3043" y="1562169"/>
            <a:ext cx="13612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8FAFC"/>
                </a:solidFill>
              </a:defRPr>
            </a:pPr>
            <a:r>
              <a:rPr sz="2000" dirty="0"/>
              <a:t>$2.400.000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296" y="2206471"/>
            <a:ext cx="64008" cy="65836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14464" y="2371063"/>
            <a:ext cx="2968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Desarrollador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2573" y="2507973"/>
            <a:ext cx="63093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dirty="0"/>
              <a:t>200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043" y="2336104"/>
            <a:ext cx="13612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8FAFC"/>
                </a:solidFill>
              </a:defRPr>
            </a:pPr>
            <a:r>
              <a:rPr sz="2000" dirty="0"/>
              <a:t>$7.000.000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296" y="2992855"/>
            <a:ext cx="64008" cy="658368"/>
          </a:xfrm>
          <a:prstGeom prst="rect">
            <a:avLst/>
          </a:prstGeom>
          <a:solidFill>
            <a:srgbClr val="30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14464" y="3157447"/>
            <a:ext cx="19848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Diseñador UI/UX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2573" y="3237309"/>
            <a:ext cx="63093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dirty="0"/>
              <a:t>60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2768" y="3126617"/>
            <a:ext cx="13612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8FAFC"/>
                </a:solidFill>
              </a:defRPr>
            </a:pPr>
            <a:r>
              <a:rPr sz="2000" dirty="0"/>
              <a:t>$1.500.000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296" y="3779239"/>
            <a:ext cx="64008" cy="658368"/>
          </a:xfrm>
          <a:prstGeom prst="rect">
            <a:avLst/>
          </a:prstGeom>
          <a:solidFill>
            <a:srgbClr val="2EC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314464" y="3943831"/>
            <a:ext cx="35680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Administrador de base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4313" y="4108423"/>
            <a:ext cx="63093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dirty="0"/>
              <a:t>40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218" y="3943831"/>
            <a:ext cx="13612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8FAFC"/>
                </a:solidFill>
              </a:defRPr>
            </a:pPr>
            <a:r>
              <a:rPr sz="2000" dirty="0"/>
              <a:t>$1.400.000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296" y="4565623"/>
            <a:ext cx="64008" cy="658368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14464" y="4730215"/>
            <a:ext cx="21762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000" dirty="0"/>
              <a:t>Técnico de soporte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1298" y="4894807"/>
            <a:ext cx="63093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dirty="0"/>
              <a:t>40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8800" y="4777353"/>
            <a:ext cx="11624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8FAFC"/>
                </a:solidFill>
              </a:defRPr>
            </a:pPr>
            <a:r>
              <a:rPr sz="2000" dirty="0"/>
              <a:t>$800.000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6735" y="5901917"/>
            <a:ext cx="40051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2B1B9"/>
                </a:solidFill>
              </a:defRPr>
            </a:pPr>
            <a:r>
              <a:rPr sz="1600" dirty="0"/>
              <a:t>TOTAL: 5 personas • 420 horas • $13.100.000</a:t>
            </a:r>
          </a:p>
        </p:txBody>
      </p:sp>
      <p:sp>
        <p:nvSpPr>
          <p:cNvPr id="2" name="Rectángulo 1"/>
          <p:cNvSpPr/>
          <p:nvPr/>
        </p:nvSpPr>
        <p:spPr>
          <a:xfrm>
            <a:off x="0" y="1296032"/>
            <a:ext cx="3882492" cy="41903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ector recto 15"/>
          <p:cNvCxnSpPr/>
          <p:nvPr/>
        </p:nvCxnSpPr>
        <p:spPr>
          <a:xfrm>
            <a:off x="-26308" y="2140179"/>
            <a:ext cx="3908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0" y="2950478"/>
            <a:ext cx="3908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/>
          <p:cNvCxnSpPr/>
          <p:nvPr/>
        </p:nvCxnSpPr>
        <p:spPr>
          <a:xfrm>
            <a:off x="9271" y="3752824"/>
            <a:ext cx="3908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/>
          <p:nvPr/>
        </p:nvCxnSpPr>
        <p:spPr>
          <a:xfrm>
            <a:off x="39472" y="4539208"/>
            <a:ext cx="3908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>
            <a:off x="3873043" y="1296032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>
            <a:off x="6080289" y="1296032"/>
            <a:ext cx="0" cy="41903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/>
          <p:cNvCxnSpPr/>
          <p:nvPr/>
        </p:nvCxnSpPr>
        <p:spPr>
          <a:xfrm>
            <a:off x="3873043" y="5486400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/>
          <p:nvPr/>
        </p:nvCxnSpPr>
        <p:spPr>
          <a:xfrm>
            <a:off x="3873043" y="2140179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/>
          <p:cNvCxnSpPr/>
          <p:nvPr/>
        </p:nvCxnSpPr>
        <p:spPr>
          <a:xfrm>
            <a:off x="3873043" y="2950478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/>
          <p:cNvCxnSpPr/>
          <p:nvPr/>
        </p:nvCxnSpPr>
        <p:spPr>
          <a:xfrm>
            <a:off x="3873043" y="3752824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>
            <a:off x="3873043" y="4539208"/>
            <a:ext cx="22072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Imagen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8" y="71487"/>
            <a:ext cx="5698750" cy="5329454"/>
          </a:xfrm>
          <a:prstGeom prst="rect">
            <a:avLst/>
          </a:prstGeom>
        </p:spPr>
      </p:pic>
      <p:pic>
        <p:nvPicPr>
          <p:cNvPr id="46" name="Imagen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07" y="5396750"/>
            <a:ext cx="5698751" cy="1371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20617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rPr dirty="0"/>
              <a:t>Conclusiones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57800" cy="347472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3474720"/>
          </a:xfrm>
          <a:prstGeom prst="rect">
            <a:avLst/>
          </a:prstGeom>
          <a:solidFill>
            <a:srgbClr val="12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0077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400" dirty="0"/>
              <a:t>Propuesta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47868"/>
            <a:ext cx="4892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La propuesta busca equilibrar rendimiento, capacidad tecnológica y costo, utilizando equipos adecuados para el desarrollo y funcionamiento del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257800" cy="3474720"/>
          </a:xfrm>
          <a:prstGeom prst="roundRect">
            <a:avLst/>
          </a:prstGeom>
          <a:solidFill>
            <a:srgbClr val="162A37"/>
          </a:solidFill>
          <a:ln>
            <a:solidFill>
              <a:srgbClr val="2C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64008" cy="3474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373368" y="1764792"/>
            <a:ext cx="27678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rPr sz="2400" dirty="0"/>
              <a:t>Validación de costos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7084" y="2647867"/>
            <a:ext cx="4892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4ECF0"/>
                </a:solidFill>
              </a:defRPr>
            </a:pPr>
            <a:r>
              <a:rPr sz="2000" dirty="0"/>
              <a:t>Los valores son referencias del mercado colombiano y pueden variar. Antes de una compra real se recomienda solicitar cotizaciones actualizadas.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4ECF0"/>
                </a:solidFill>
              </a:defRPr>
            </a:pPr>
            <a:r>
              <a:rPr dirty="0"/>
              <a:t>• Los valores deben validarse mediante cotizaciones formales para una implementación real.</a:t>
            </a:r>
          </a:p>
        </p:txBody>
      </p:sp>
      <p:sp>
        <p:nvSpPr>
          <p:cNvPr id="15" name="Oval 4"/>
          <p:cNvSpPr/>
          <p:nvPr/>
        </p:nvSpPr>
        <p:spPr>
          <a:xfrm>
            <a:off x="10138575" y="5170479"/>
            <a:ext cx="1644930" cy="1554951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4"/>
          <p:cNvSpPr/>
          <p:nvPr/>
        </p:nvSpPr>
        <p:spPr>
          <a:xfrm>
            <a:off x="9655205" y="5618947"/>
            <a:ext cx="966739" cy="1007280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Oval 4"/>
          <p:cNvSpPr/>
          <p:nvPr/>
        </p:nvSpPr>
        <p:spPr>
          <a:xfrm>
            <a:off x="10749159" y="9930"/>
            <a:ext cx="1361682" cy="1315950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Oval 4"/>
          <p:cNvSpPr/>
          <p:nvPr/>
        </p:nvSpPr>
        <p:spPr>
          <a:xfrm>
            <a:off x="11200663" y="859634"/>
            <a:ext cx="910178" cy="835686"/>
          </a:xfrm>
          <a:prstGeom prst="ellipse">
            <a:avLst/>
          </a:prstGeom>
          <a:solidFill>
            <a:srgbClr val="1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4" y="636104"/>
            <a:ext cx="12005254" cy="622189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93373" y="1"/>
            <a:ext cx="4309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CONTROL DE </a:t>
            </a:r>
            <a:r>
              <a:rPr lang="es-ES" sz="2800" dirty="0">
                <a:solidFill>
                  <a:schemeClr val="bg1"/>
                </a:solidFill>
              </a:rPr>
              <a:t>VERSIONES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88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358</Words>
  <Application>Microsoft Office PowerPoint</Application>
  <PresentationFormat>Panorámica</PresentationFormat>
  <Paragraphs>68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Dell</dc:creator>
  <cp:keywords/>
  <dc:description>generated using python-pptx</dc:description>
  <cp:lastModifiedBy>Dell</cp:lastModifiedBy>
  <cp:revision>22</cp:revision>
  <dcterms:created xsi:type="dcterms:W3CDTF">2013-01-27T09:14:16Z</dcterms:created>
  <dcterms:modified xsi:type="dcterms:W3CDTF">2026-09-24T19:44:11Z</dcterms:modified>
  <cp:category/>
</cp:coreProperties>
</file>